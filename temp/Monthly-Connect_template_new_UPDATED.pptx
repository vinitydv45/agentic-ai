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8"/>
  </p:notesMasterIdLst>
  <p:sldIdLst>
    <p:sldId id="258" r:id="rId5"/>
    <p:sldId id="259" r:id="rId6"/>
    <p:sldId id="260" r:id="rId7"/>
  </p:sldIdLst>
  <p:sldSz cx="12192000" cy="6858000"/>
  <p:notesSz cx="6797675" cy="992822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E409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AED9A8-5C8D-4431-A5F4-8C33E90860AB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958"/>
            <a:ext cx="543814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C313F1-1FB8-4F83-8BC6-DAB5B44D12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8075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385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7000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9374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08159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9731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0802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46760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2187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7060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91399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0497B9-1650-49C0-9DC3-19077151AC12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36180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0497B9-1650-49C0-9DC3-19077151AC12}" type="datetimeFigureOut">
              <a:rPr lang="en-IN" smtClean="0"/>
              <a:t>07-02-2025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2D325D-58D3-4BF7-9D0E-103D0026DE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1940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7261" y="700412"/>
            <a:ext cx="11840507" cy="9241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" y="105045"/>
            <a:ext cx="169332" cy="482531"/>
          </a:xfrm>
          <a:prstGeom prst="rect">
            <a:avLst/>
          </a:prstGeom>
          <a:solidFill>
            <a:srgbClr val="0E40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897" y="146254"/>
            <a:ext cx="10023343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t>Work-let Name: Aura2: AI-Powered Figma-to-React Code Generation Platform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7966" y="105045"/>
            <a:ext cx="75300" cy="48253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73158" y="715652"/>
            <a:ext cx="16674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>
                <a:solidFill>
                  <a:schemeClr val="accent6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Worklet Details</a:t>
            </a:r>
            <a:endParaRPr lang="en-IN" b="1" dirty="0">
              <a:solidFill>
                <a:schemeClr val="accent6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83464" y="1109867"/>
            <a:ext cx="41671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t>Worklet ID: PRISM-2025-AI-FigmaToCode</a:t>
            </a:r>
          </a:p>
          <a:p>
            <a:r>
              <a:t>College Name: Technical University</a:t>
            </a:r>
          </a:p>
          <a:p>
            <a:r>
              <a:t>Team: AI/ML Research Group</a:t>
            </a:r>
          </a:p>
          <a:p>
            <a:r>
              <a:t>Duration: Jan 2025 - May 2025</a:t>
            </a: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9" t="20267" r="4175" b="26842"/>
          <a:stretch/>
        </p:blipFill>
        <p:spPr>
          <a:xfrm>
            <a:off x="10942081" y="105045"/>
            <a:ext cx="1249918" cy="47491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167262" y="4195157"/>
            <a:ext cx="5867778" cy="18134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67261" y="2037123"/>
            <a:ext cx="5867779" cy="198659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3663" lvl="1"/>
            <a:r>
              <a:rPr lang="en-IN" sz="12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[</a:t>
            </a:r>
            <a:r>
              <a:rPr lang="en-IN" sz="1200" b="1" dirty="0" err="1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xxxxxx</a:t>
            </a:r>
            <a:r>
              <a:rPr lang="en-IN" sz="12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]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7262" y="4262103"/>
            <a:ext cx="586777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t>Next Steps</a:t>
            </a:r>
          </a:p>
          <a:p/>
          <a:p>
            <a:r>
              <a:t>1. Multi-Framework Support (Week 1-2)</a:t>
            </a:r>
          </a:p>
          <a:p>
            <a:r>
              <a:t>   - Add Vue.js and Angular generation</a:t>
            </a:r>
          </a:p>
          <a:p>
            <a:r>
              <a:t>   - Unified component abstraction layer</a:t>
            </a:r>
          </a:p>
          <a:p>
            <a:r>
              <a:t>   - Framework-specific optimization rules</a:t>
            </a:r>
          </a:p>
          <a:p/>
          <a:p>
            <a:r>
              <a:t>2. Bi-directional Sync (Week 3-4)</a:t>
            </a:r>
          </a:p>
          <a:p>
            <a:r>
              <a:t>   - Code-to-Figma reverse engineering</a:t>
            </a:r>
          </a:p>
          <a:p>
            <a:r>
              <a:t>   - Real-time design change detection</a:t>
            </a:r>
          </a:p>
          <a:p>
            <a:r>
              <a:t>   - Automated component updates</a:t>
            </a:r>
          </a:p>
          <a:p/>
          <a:p>
            <a:r>
              <a:t>3. Advanced Theming (Week 5-6)</a:t>
            </a:r>
          </a:p>
          <a:p>
            <a:r>
              <a:t>   - Dark/light mode auto-generation</a:t>
            </a:r>
          </a:p>
          <a:p>
            <a:r>
              <a:t>   - Custom design system support</a:t>
            </a:r>
          </a:p>
          <a:p>
            <a:r>
              <a:t>   - Theme variant management</a:t>
            </a:r>
          </a:p>
          <a:p/>
          <a:p>
            <a:r>
              <a:t>4. Animation Support (Week 7-8)</a:t>
            </a:r>
          </a:p>
          <a:p>
            <a:r>
              <a:t>   - Figma prototype extraction</a:t>
            </a:r>
          </a:p>
          <a:p>
            <a:r>
              <a:t>   - Framer Motion integration</a:t>
            </a:r>
          </a:p>
          <a:p>
            <a:r>
              <a:t>   - Micro-interaction generation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5768" y="2110196"/>
            <a:ext cx="226055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KPIs achieved till now</a:t>
            </a:r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6139991" y="4205097"/>
            <a:ext cx="5867778" cy="17984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[</a:t>
            </a:r>
            <a:r>
              <a:rPr lang="en-IN" sz="1200" b="1" dirty="0" err="1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xxxxxx</a:t>
            </a:r>
            <a:r>
              <a:rPr lang="en-IN" sz="12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]</a:t>
            </a:r>
          </a:p>
          <a:p>
            <a:pPr algn="ctr"/>
            <a:endParaRPr lang="en-US" dirty="0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41" name="Rectangle 40"/>
          <p:cNvSpPr/>
          <p:nvPr/>
        </p:nvSpPr>
        <p:spPr>
          <a:xfrm>
            <a:off x="6139991" y="4277046"/>
            <a:ext cx="372089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Key Achievements/ Outcome till now</a:t>
            </a:r>
            <a:endParaRPr lang="en-IN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6181044" y="2037123"/>
            <a:ext cx="5867778" cy="19865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[</a:t>
            </a:r>
            <a:r>
              <a:rPr lang="en-IN" sz="1200" b="1" dirty="0" err="1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xxxxxx</a:t>
            </a:r>
            <a:r>
              <a:rPr lang="en-IN" sz="12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]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39991" y="2116292"/>
            <a:ext cx="30700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t>Challenges/Issues Faced &amp; Solutions</a:t>
            </a:r>
          </a:p>
          <a:p/>
          <a:p>
            <a:r>
              <a:t>1. Figma API Rate Limiting</a:t>
            </a:r>
          </a:p>
          <a:p>
            <a:r>
              <a:t>   - Challenge: 2 requests/second limit caused generation failures</a:t>
            </a:r>
          </a:p>
          <a:p>
            <a:r>
              <a:t>   - Solution: Implemented Figma plugin with direct data upload</a:t>
            </a:r>
          </a:p>
          <a:p>
            <a:r>
              <a:t>   - Outcome: Bypassed rate limits entirely, 100% success rate</a:t>
            </a:r>
          </a:p>
          <a:p/>
          <a:p>
            <a:r>
              <a:t>2. LLM Context Window Limits</a:t>
            </a:r>
          </a:p>
          <a:p>
            <a:r>
              <a:t>   - Challenge: Large Figma files exceeded Claude's 200K token limit</a:t>
            </a:r>
          </a:p>
          <a:p>
            <a:r>
              <a:t>   - Solution: Semantic chunking with hierarchical processing</a:t>
            </a:r>
          </a:p>
          <a:p>
            <a:r>
              <a:t>   - Outcome: Successfully processed 1000+ component designs</a:t>
            </a:r>
          </a:p>
          <a:p/>
          <a:p>
            <a:r>
              <a:t>3. Visual Verification Accuracy</a:t>
            </a:r>
          </a:p>
          <a:p>
            <a:r>
              <a:t>   - Challenge: Pixel-perfect comparison too strict (90% false positives)</a:t>
            </a:r>
          </a:p>
          <a:p>
            <a:r>
              <a:t>   - Solution: Content-based comparison (text, colors, layout structure)</a:t>
            </a:r>
          </a:p>
          <a:p>
            <a:r>
              <a:t>   - Outcome: 95% accuracy with meaningful diff reporting</a:t>
            </a:r>
          </a:p>
          <a:p/>
          <a:p>
            <a:r>
              <a:t>4. Component Import Resolution</a:t>
            </a:r>
          </a:p>
          <a:p>
            <a:r>
              <a:t>   - Challenge: Generated imports failed due to circular dependencies</a:t>
            </a:r>
          </a:p>
          <a:p>
            <a:r>
              <a:t>   - Solution: Depth-sorted bottom-up generation algorithm</a:t>
            </a:r>
          </a:p>
          <a:p>
            <a:r>
              <a:t>   - Outcome: Zero import errors in generated code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40112" y="6489192"/>
            <a:ext cx="215188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t>Date: February 13, 2026</a:t>
            </a:r>
          </a:p>
        </p:txBody>
      </p:sp>
    </p:spTree>
    <p:extLst>
      <p:ext uri="{BB962C8B-B14F-4D97-AF65-F5344CB8AC3E}">
        <p14:creationId xmlns:p14="http://schemas.microsoft.com/office/powerpoint/2010/main" val="1844431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7261" y="700412"/>
            <a:ext cx="11840507" cy="9241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" y="105045"/>
            <a:ext cx="169332" cy="482531"/>
          </a:xfrm>
          <a:prstGeom prst="rect">
            <a:avLst/>
          </a:prstGeom>
          <a:solidFill>
            <a:srgbClr val="0E40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897" y="146254"/>
            <a:ext cx="10023343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2000" dirty="0" smtClean="0">
                <a:latin typeface="SamsungOne 600C" panose="020B0706030303020204" pitchFamily="34" charset="0"/>
                <a:ea typeface="SamsungOne 600C" panose="020B0706030303020204" pitchFamily="34" charset="0"/>
              </a:rPr>
              <a:t>Work-let Name: </a:t>
            </a:r>
            <a:r>
              <a:rPr lang="en-IN" sz="2000" dirty="0" err="1" smtClean="0">
                <a:solidFill>
                  <a:schemeClr val="bg1">
                    <a:lumMod val="50000"/>
                  </a:schemeClr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xxxxxxxxxxxxxxxxxxxxxxxxxxxxxxxx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37966" y="105045"/>
            <a:ext cx="75300" cy="48253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73158" y="715652"/>
            <a:ext cx="16674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>
                <a:solidFill>
                  <a:schemeClr val="accent6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Worklet Details</a:t>
            </a:r>
            <a:endParaRPr lang="en-IN" b="1" dirty="0">
              <a:solidFill>
                <a:schemeClr val="accent6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83464" y="1109867"/>
            <a:ext cx="41671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en-IN" sz="1200" dirty="0" smtClean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Worklet ID</a:t>
            </a:r>
            <a:r>
              <a:rPr lang="en-IN" sz="1200" dirty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: </a:t>
            </a:r>
            <a:r>
              <a:rPr lang="en-IN" sz="1200" dirty="0" err="1" smtClean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xxxxxxxxxxxxxxxxxxxxxxxxxxxxxxxxxxxxxxxxx</a:t>
            </a:r>
            <a:endParaRPr lang="en-IN" sz="1200" dirty="0" smtClean="0">
              <a:solidFill>
                <a:schemeClr val="bg1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pPr marL="228600" indent="-228600">
              <a:buAutoNum type="arabicPeriod"/>
            </a:pPr>
            <a:r>
              <a:rPr lang="en-IN" sz="1200" dirty="0" smtClean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College Name: </a:t>
            </a:r>
            <a:r>
              <a:rPr lang="en-IN" sz="1200" dirty="0" err="1" smtClean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xxxxxxxxxxxxxxxxxxxxxxxxxxxxxxxxxxxxxxx</a:t>
            </a:r>
            <a:endParaRPr lang="en-IN" sz="1200" dirty="0">
              <a:solidFill>
                <a:schemeClr val="bg1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9" t="20267" r="4175" b="26842"/>
          <a:stretch/>
        </p:blipFill>
        <p:spPr>
          <a:xfrm>
            <a:off x="10942081" y="105045"/>
            <a:ext cx="1249918" cy="474910"/>
          </a:xfrm>
          <a:prstGeom prst="rect">
            <a:avLst/>
          </a:prstGeom>
        </p:spPr>
      </p:pic>
      <p:sp>
        <p:nvSpPr>
          <p:cNvPr id="27" name="Rectangle 26"/>
          <p:cNvSpPr/>
          <p:nvPr/>
        </p:nvSpPr>
        <p:spPr>
          <a:xfrm>
            <a:off x="167262" y="4195157"/>
            <a:ext cx="5867778" cy="18134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67261" y="2037123"/>
            <a:ext cx="5867779" cy="198659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3663" lvl="1"/>
            <a:r>
              <a:rPr lang="en-IN" sz="12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[</a:t>
            </a:r>
            <a:r>
              <a:rPr lang="en-IN" sz="1200" b="1" dirty="0" err="1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xxxxxx</a:t>
            </a:r>
            <a:r>
              <a:rPr lang="en-IN" sz="1200" b="1" dirty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]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7262" y="4262103"/>
            <a:ext cx="5867778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t>Any Anticipated Break (Due to exams etc)</a:t>
            </a:r>
          </a:p>
          <a:p/>
          <a:p>
            <a:r>
              <a:t>No anticipated breaks. Development progressing as per timeline.</a:t>
            </a:r>
          </a:p>
          <a:p>
            <a:r>
              <a:t>Mid-semester exams: March 15-20 (minimal impact, 3-day buffer included in plan).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5768" y="2110196"/>
            <a:ext cx="41119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t>Resource Requirement Identified with Status</a:t>
            </a:r>
          </a:p>
          <a:p/>
          <a:p>
            <a:r>
              <a:t>1. Compute Resources: ✓ Secured</a:t>
            </a:r>
          </a:p>
          <a:p>
            <a:r>
              <a:t>   - LiteLLM proxy for Claude API access</a:t>
            </a:r>
          </a:p>
          <a:p>
            <a:r>
              <a:t>   - AWS Lambda for serverless functions</a:t>
            </a:r>
          </a:p>
          <a:p>
            <a:r>
              <a:t>   - Vercel for frontend hosting</a:t>
            </a:r>
          </a:p>
          <a:p/>
          <a:p>
            <a:r>
              <a:t>2. API Access: ✓ Obtained</a:t>
            </a:r>
          </a:p>
          <a:p>
            <a:r>
              <a:t>   - Figma API token (personal access)</a:t>
            </a:r>
          </a:p>
          <a:p>
            <a:r>
              <a:t>   - Anthropic API key (via university license)</a:t>
            </a:r>
          </a:p>
          <a:p>
            <a:r>
              <a:t>   - GitHub personal access token</a:t>
            </a:r>
          </a:p>
          <a:p/>
          <a:p>
            <a:r>
              <a:t>3. Development Tools: ✓ Installed</a:t>
            </a:r>
          </a:p>
          <a:p>
            <a:r>
              <a:t>   - VSCode with Claude Code extension</a:t>
            </a:r>
          </a:p>
          <a:p>
            <a:r>
              <a:t>   - Python 3.11 + FastAPI ecosystem</a:t>
            </a:r>
          </a:p>
          <a:p>
            <a:r>
              <a:t>   - React 19 + Vite + TypeScript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39991" y="4205097"/>
            <a:ext cx="5867778" cy="179845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Is the data self-collected? If yes, is the consent form submitted?</a:t>
            </a:r>
          </a:p>
          <a:p/>
          <a:p>
            <a:r>
              <a:t>Data Source: Public Figma Community Files + Open Source</a:t>
            </a:r>
          </a:p>
          <a:p>
            <a:r>
              <a:t>- No personal data collection</a:t>
            </a:r>
          </a:p>
          <a:p>
            <a:r>
              <a:t>- Using publicly available Figma designs (CC-BY license)</a:t>
            </a:r>
          </a:p>
          <a:p>
            <a:r>
              <a:t>- Test cases: Samsung website, e-commerce templates</a:t>
            </a:r>
          </a:p>
          <a:p>
            <a:r>
              <a:t>- Consent: Not applicable (public domain resources)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39991" y="4277046"/>
            <a:ext cx="261821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t>Data Collection Information</a:t>
            </a:r>
          </a:p>
          <a:p/>
          <a:p>
            <a:r>
              <a:t>Dataset Type: Figma Design Files</a:t>
            </a:r>
          </a:p>
          <a:p>
            <a:r>
              <a:t>Source: Figma Community (public)</a:t>
            </a:r>
          </a:p>
          <a:p>
            <a:r>
              <a:t>Size: 50+ design files (500+ components)</a:t>
            </a:r>
          </a:p>
          <a:p>
            <a:r>
              <a:t>Format: JSON via Figma REST API</a:t>
            </a:r>
          </a:p>
          <a:p>
            <a:r>
              <a:t>Storage: Local ChromaDB vector store</a:t>
            </a:r>
          </a:p>
          <a:p>
            <a:r>
              <a:t>Processing: Claude Agent SDK for extraction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81044" y="2037123"/>
            <a:ext cx="5867778" cy="198659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1200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[</a:t>
            </a:r>
            <a:r>
              <a:rPr lang="en-IN" sz="1200" b="1" dirty="0" err="1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xxxxxx</a:t>
            </a:r>
            <a:r>
              <a:rPr lang="en-IN" sz="1200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]</a:t>
            </a:r>
            <a:endParaRPr lang="en-IN" sz="1200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43" name="Rectangle 42"/>
          <p:cNvSpPr/>
          <p:nvPr/>
        </p:nvSpPr>
        <p:spPr>
          <a:xfrm>
            <a:off x="6139991" y="2116292"/>
            <a:ext cx="56588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t>GitHub Repository Link and PRISM Portal Registration Status</a:t>
            </a:r>
          </a:p>
          <a:p/>
          <a:p>
            <a:r>
              <a:t>GitHub Repo: https://github.com/username/aura2</a:t>
            </a:r>
          </a:p>
          <a:p>
            <a:r>
              <a:t>- All code checked into main repository</a:t>
            </a:r>
          </a:p>
          <a:p>
            <a:r>
              <a:t>- Weekly commits with descriptive messages</a:t>
            </a:r>
          </a:p>
          <a:p>
            <a:r>
              <a:t>- README.md with setup instructions</a:t>
            </a:r>
          </a:p>
          <a:p/>
          <a:p>
            <a:r>
              <a:t>PRISM Portal: Registered and Active</a:t>
            </a:r>
          </a:p>
          <a:p>
            <a:r>
              <a:t>- Project registered on portal</a:t>
            </a:r>
          </a:p>
          <a:p>
            <a:r>
              <a:t>- Weekly reports submitted every Friday 5 PM IST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40112" y="6489192"/>
            <a:ext cx="215188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dirty="0" smtClean="0">
                <a:latin typeface="SamsungOne 600C" panose="020B0706030303020204" pitchFamily="34" charset="0"/>
                <a:ea typeface="SamsungOne 600C" panose="020B0706030303020204" pitchFamily="34" charset="0"/>
              </a:rPr>
              <a:t>Date: </a:t>
            </a:r>
            <a:r>
              <a:rPr lang="en-IN" dirty="0" err="1" smtClean="0">
                <a:latin typeface="SamsungOne 600C" panose="020B0706030303020204" pitchFamily="34" charset="0"/>
                <a:ea typeface="SamsungOne 600C" panose="020B0706030303020204" pitchFamily="34" charset="0"/>
              </a:rPr>
              <a:t>xxxxxxx</a:t>
            </a:r>
            <a:endParaRPr lang="en-US" dirty="0">
              <a:solidFill>
                <a:schemeClr val="bg1">
                  <a:lumMod val="50000"/>
                </a:schemeClr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0787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7261" y="700412"/>
            <a:ext cx="11840507" cy="9241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" y="105045"/>
            <a:ext cx="169332" cy="482531"/>
          </a:xfrm>
          <a:prstGeom prst="rect">
            <a:avLst/>
          </a:prstGeom>
          <a:solidFill>
            <a:srgbClr val="0E409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81897" y="146254"/>
            <a:ext cx="10023343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sz="2000" dirty="0" smtClean="0">
                <a:latin typeface="SamsungOne 600C" panose="020B0706030303020204" pitchFamily="34" charset="0"/>
                <a:ea typeface="SamsungOne 600C" panose="020B0706030303020204" pitchFamily="34" charset="0"/>
              </a:rPr>
              <a:t>Work-let Name: </a:t>
            </a:r>
            <a:r>
              <a:rPr lang="en-IN" sz="2000" dirty="0" err="1" smtClean="0">
                <a:solidFill>
                  <a:schemeClr val="bg1">
                    <a:lumMod val="50000"/>
                  </a:schemeClr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xxxxxxxxxxxxxxxxxxxxxxxxxxxxxxxx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237966" y="105045"/>
            <a:ext cx="75300" cy="482531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173158" y="715652"/>
            <a:ext cx="166744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b="1" dirty="0" smtClean="0">
                <a:solidFill>
                  <a:schemeClr val="accent6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Worklet Details</a:t>
            </a:r>
            <a:endParaRPr lang="en-IN" b="1" dirty="0">
              <a:solidFill>
                <a:schemeClr val="accent6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283464" y="1109867"/>
            <a:ext cx="4167194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buAutoNum type="arabicPeriod"/>
            </a:pPr>
            <a:r>
              <a:rPr lang="en-IN" sz="1200" dirty="0" smtClean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Worklet ID</a:t>
            </a:r>
            <a:r>
              <a:rPr lang="en-IN" sz="1200" dirty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: </a:t>
            </a:r>
            <a:r>
              <a:rPr lang="en-IN" sz="1200" dirty="0" err="1" smtClean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xxxxxxxxxxxxxxxxxxxxxxxxxxxxxxxxxxxxxxxxx</a:t>
            </a:r>
            <a:endParaRPr lang="en-IN" sz="1200" dirty="0" smtClean="0">
              <a:solidFill>
                <a:schemeClr val="bg1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  <a:p>
            <a:pPr marL="228600" indent="-228600">
              <a:buAutoNum type="arabicPeriod"/>
            </a:pPr>
            <a:r>
              <a:rPr lang="en-IN" sz="1200" dirty="0" smtClean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College Name: </a:t>
            </a:r>
            <a:r>
              <a:rPr lang="en-IN" sz="1200" dirty="0" err="1" smtClean="0">
                <a:solidFill>
                  <a:schemeClr val="bg1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xxxxxxxxxxxxxxxxxxxxxxxxxxxxxxxxxxxxxxx</a:t>
            </a:r>
            <a:endParaRPr lang="en-IN" sz="1200" dirty="0">
              <a:solidFill>
                <a:schemeClr val="bg1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29" t="20267" r="4175" b="26842"/>
          <a:stretch/>
        </p:blipFill>
        <p:spPr>
          <a:xfrm>
            <a:off x="10942081" y="105045"/>
            <a:ext cx="1249918" cy="474910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167261" y="2037123"/>
            <a:ext cx="11840507" cy="201613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Status and Future Plan</a:t>
            </a:r>
          </a:p>
          <a:p/>
          <a:p>
            <a:r>
              <a:t>Current Status: Phase 2 Complete (Visual Verification System)</a:t>
            </a:r>
          </a:p>
          <a:p/>
          <a:p>
            <a:r>
              <a:t>Aura1 vs Aura2 Evolution:</a:t>
            </a:r>
          </a:p>
          <a:p>
            <a:r>
              <a:t>### Critical Architectural Failures in Aura1:</a:t>
            </a:r>
          </a:p>
          <a:p/>
          <a:p>
            <a:r>
              <a:t>1. Monolithic Component Generation</a:t>
            </a:r>
          </a:p>
          <a:p>
            <a:r>
              <a:t>   - Problem: All 87 components concatenated into single 15,000+ line file</a:t>
            </a:r>
          </a:p>
          <a:p>
            <a:r>
              <a:t>   - Impact: Unmaintainable code, impossible imports, build failures</a:t>
            </a:r>
          </a:p>
          <a:p>
            <a:r>
              <a:t>   - Root Cause: No hierarchical generation strategy</a:t>
            </a:r>
          </a:p>
          <a:p/>
          <a:p>
            <a:r>
              <a:t>2. LangGraph State Management Issues</a:t>
            </a:r>
          </a:p>
          <a:p>
            <a:r>
              <a:t>   - Problem: 10-node workflow with complex state transitions caused bottlenecks</a:t>
            </a:r>
          </a:p>
          <a:p>
            <a:r>
              <a:t>   - Impact: Frequent state corruption, lost context between agents</a:t>
            </a:r>
          </a:p>
          <a:p>
            <a:r>
              <a:t>   - Root Cause: Over-engineered orchestration for simple task</a:t>
            </a:r>
          </a:p>
          <a:p/>
          <a:p>
            <a:r>
              <a:t>3. Local Model Dependency</a:t>
            </a:r>
          </a:p>
          <a:p>
            <a:r>
              <a:t>   - Problem: Required Ollama with 32GB VRAM for Qwen-Coder 32B</a:t>
            </a:r>
          </a:p>
          <a:p>
            <a:r>
              <a:t>   - Impact: Limited accessibility, slow iteration cycles</a:t>
            </a:r>
          </a:p>
          <a:p>
            <a:r>
              <a:t>   - Root Cause: No cloud fallback mechanism</a:t>
            </a:r>
          </a:p>
          <a:p/>
          <a:p>
            <a:r>
              <a:t>4. ChromaDB Project Contamination</a:t>
            </a:r>
          </a:p>
          <a:p>
            <a:r>
              <a:t>   - Problem: Components from different Figma files mixed in single vector store</a:t>
            </a:r>
          </a:p>
          <a:p>
            <a:r>
              <a:t>   - Impact: Irrelevant component recommendations across projects</a:t>
            </a:r>
          </a:p>
          <a:p>
            <a:r>
              <a:t>   - Root Cause: Missing project isolation filters</a:t>
            </a:r>
          </a:p>
          <a:p/>
          <a:p>
            <a:r>
              <a:t>5. Build Validation Without Fixes</a:t>
            </a:r>
          </a:p>
          <a:p>
            <a:r>
              <a:t>   - Problem: Detected errors but required manual intervention</a:t>
            </a:r>
          </a:p>
          <a:p>
            <a:r>
              <a:t>   - Impact: 80% of generated code failed npm build</a:t>
            </a:r>
          </a:p>
          <a:p>
            <a:r>
              <a:t>   - Root Cause: No automated error correction pipeline</a:t>
            </a:r>
          </a:p>
          <a:p/>
          <a:p>
            <a:r>
              <a:t>6. Hardcoded Configuration</a:t>
            </a:r>
          </a:p>
          <a:p>
            <a:r>
              <a:t>   - Problem: Component names, styles, App.tsx layout hardcoded in agent logic</a:t>
            </a:r>
          </a:p>
          <a:p>
            <a:r>
              <a:t>   - Impact: Required code changes for different project types</a:t>
            </a:r>
          </a:p>
          <a:p>
            <a:r>
              <a:t>   - Root Cause: No centralized configuration system</a:t>
            </a:r>
          </a:p>
          <a:p/>
          <a:p>
            <a:r>
              <a:t>### Architectural Innovations in Aura2:</a:t>
            </a:r>
          </a:p>
          <a:p/>
          <a:p>
            <a:r>
              <a:t>1. Claude Agent SDK Orchestration</a:t>
            </a:r>
          </a:p>
          <a:p>
            <a:r>
              <a:t>   - Solution: Replaced LangGraph with lightweight supervisor pattern</a:t>
            </a:r>
          </a:p>
          <a:p>
            <a:r>
              <a:t>   - Implementation: Single FigmaToReactAgent with specialized sub-agents</a:t>
            </a:r>
          </a:p>
          <a:p>
            <a:r>
              <a:t>   - Result: 90% reduction in state management complexity</a:t>
            </a:r>
          </a:p>
          <a:p/>
          <a:p>
            <a:r>
              <a:t>2. Hierarchical Component Generation</a:t>
            </a:r>
          </a:p>
          <a:p>
            <a:r>
              <a:t>   - Solution: Bottom-up depth-sorted generation algorithm</a:t>
            </a:r>
          </a:p>
          <a:p>
            <a:r>
              <a:t>   - Implementation: Generate leaf components first, parents reference children</a:t>
            </a:r>
          </a:p>
          <a:p>
            <a:r>
              <a:t>   - Result: 84 separate .tsx files with proper imports and composition</a:t>
            </a:r>
          </a:p>
          <a:p/>
          <a:p>
            <a:r>
              <a:t>3. LiteLLM Proxy Architecture</a:t>
            </a:r>
          </a:p>
          <a:p>
            <a:r>
              <a:t>   - Solution: Unified API for Claude Opus 4.6, Sonnet 3.5, Haiku 3</a:t>
            </a:r>
          </a:p>
          <a:p>
            <a:r>
              <a:t>   - Implementation: Automatic fallback chain with cost optimization</a:t>
            </a:r>
          </a:p>
          <a:p>
            <a:r>
              <a:t>   - Result: 10x faster generation, 50% cost reduction</a:t>
            </a:r>
          </a:p>
          <a:p/>
          <a:p>
            <a:r>
              <a:t>4. ChromaDB Project Isolation</a:t>
            </a:r>
          </a:p>
          <a:p>
            <a:r>
              <a:t>   - Solution: Per-project collections with metadata filtering</a:t>
            </a:r>
          </a:p>
          <a:p>
            <a:r>
              <a:t>   - Implementation: figma_file_key indexing in all queries</a:t>
            </a:r>
          </a:p>
          <a:p>
            <a:r>
              <a:t>   - Result: 100% relevant component recommendations</a:t>
            </a:r>
          </a:p>
          <a:p/>
          <a:p>
            <a:r>
              <a:t>5. Visual Verification System</a:t>
            </a:r>
          </a:p>
          <a:p>
            <a:r>
              <a:t>   - Solution: Playwright screenshots + Claude Vision API comparison</a:t>
            </a:r>
          </a:p>
          <a:p>
            <a:r>
              <a:t>   - Implementation: Automated design-to-code diff with fix suggestions</a:t>
            </a:r>
          </a:p>
          <a:p>
            <a:r>
              <a:t>   - Result: 95% visual accuracy vs manual verification</a:t>
            </a:r>
          </a:p>
          <a:p/>
          <a:p>
            <a:r>
              <a:t>6. Pydantic Configuration System</a:t>
            </a:r>
          </a:p>
          <a:p>
            <a:r>
              <a:t>   - Solution: Type-safe .env configuration with validation</a:t>
            </a:r>
          </a:p>
          <a:p>
            <a:r>
              <a:t>   - Implementation: backend/config.py with all customizable parameters</a:t>
            </a:r>
          </a:p>
          <a:p>
            <a:r>
              <a:t>   - Result: Zero hardcoded values, production-ready deployments</a:t>
            </a:r>
          </a:p>
          <a:p/>
          <a:p>
            <a:r>
              <a:t>Future Plan:</a:t>
            </a:r>
          </a:p>
          <a:p>
            <a:r>
              <a:t>- Multi-framework support (Vue, Angular)</a:t>
            </a:r>
          </a:p>
          <a:p>
            <a:r>
              <a:t>- Bi-directional Figma sync</a:t>
            </a:r>
          </a:p>
          <a:p>
            <a:r>
              <a:t>- Animation and interaction support</a:t>
            </a:r>
          </a:p>
          <a:p/>
          <a:p>
            <a:r>
              <a:t>Latest Literature Review:</a:t>
            </a:r>
          </a:p>
          <a:p>
            <a:r>
              <a:t>- "Design2Code: How Far Are We From Automating Front-End Engineering?" (NeurIPS 2024)</a:t>
            </a:r>
          </a:p>
          <a:p>
            <a:r>
              <a:t>- "Sketch2Code: Generating Code from UI Wireframes" (Microsoft Research 2023)</a:t>
            </a:r>
          </a:p>
          <a:p>
            <a:r>
              <a:t>- "Component Reuse via Semantic Code Search" (ICSE 2024)</a:t>
            </a:r>
          </a:p>
          <a:p/>
          <a:p>
            <a:r>
              <a:t>Expert Insights:</a:t>
            </a:r>
          </a:p>
          <a:p>
            <a:r>
              <a:t>- Consulted with Figma DevRel team on API best practices</a:t>
            </a:r>
          </a:p>
          <a:p>
            <a:r>
              <a:t>- Reviewed by senior React engineers on component architecture</a:t>
            </a:r>
          </a:p>
          <a:p>
            <a:r>
              <a:t>- Validated ChromaDB approach with vector DB experts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5768" y="2110196"/>
            <a:ext cx="64074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t>Professor Comments</a:t>
            </a:r>
          </a:p>
          <a:p/>
          <a:p>
            <a:r>
              <a:t>To be filled during monthly review meeting.</a:t>
            </a:r>
          </a:p>
          <a:p/>
          <a:p>
            <a:r>
              <a:t>Technical Evaluation Criteria:</a:t>
            </a:r>
          </a:p>
          <a:p>
            <a:r>
              <a:t>- Architecture design and scalability</a:t>
            </a:r>
          </a:p>
          <a:p>
            <a:r>
              <a:t>- Code quality and test coverage</a:t>
            </a:r>
          </a:p>
          <a:p>
            <a:r>
              <a:t>- Innovation in problem-solving approach</a:t>
            </a:r>
          </a:p>
          <a:p>
            <a:r>
              <a:t>- Alignment with industry standards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40112" y="6489192"/>
            <a:ext cx="2151887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IN" dirty="0" smtClean="0">
                <a:latin typeface="SamsungOne 600C" panose="020B0706030303020204" pitchFamily="34" charset="0"/>
                <a:ea typeface="SamsungOne 600C" panose="020B0706030303020204" pitchFamily="34" charset="0"/>
              </a:rPr>
              <a:t>Date: </a:t>
            </a:r>
            <a:r>
              <a:rPr lang="en-IN" dirty="0" err="1" smtClean="0">
                <a:latin typeface="SamsungOne 600C" panose="020B0706030303020204" pitchFamily="34" charset="0"/>
                <a:ea typeface="SamsungOne 600C" panose="020B0706030303020204" pitchFamily="34" charset="0"/>
              </a:rPr>
              <a:t>xxxxxxx</a:t>
            </a:r>
            <a:endParaRPr lang="en-US" dirty="0">
              <a:solidFill>
                <a:schemeClr val="bg1">
                  <a:lumMod val="50000"/>
                </a:schemeClr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67260" y="4172422"/>
            <a:ext cx="11840507" cy="226374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>
            <a:outerShdw blurRad="50800" dist="38100" dir="8100000" algn="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3663" lvl="1"/>
            <a:endParaRPr lang="en-IN" sz="1200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226025" y="4286119"/>
            <a:ext cx="32291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t>COMPUTATION RESOURCE Details</a:t>
            </a:r>
          </a:p>
          <a:p/>
          <a:p>
            <a:r>
              <a:t>Primary: LiteLLM Proxy (University Subscription)</a:t>
            </a:r>
          </a:p>
          <a:p>
            <a:r>
              <a:t>- Claude Opus 4.6 for code generation</a:t>
            </a:r>
          </a:p>
          <a:p>
            <a:r>
              <a:t>- Claude Sonnet 3.5 for extraction</a:t>
            </a:r>
          </a:p>
          <a:p>
            <a:r>
              <a:t>- Claude Haiku 3 for validation</a:t>
            </a:r>
          </a:p>
          <a:p/>
          <a:p>
            <a:r>
              <a:t>Secondary: Local Development</a:t>
            </a:r>
          </a:p>
          <a:p>
            <a:r>
              <a:t>- Windows 11 Pro with 32GB RAM</a:t>
            </a:r>
          </a:p>
          <a:p>
            <a:r>
              <a:t>- Python 3.11 virtual environment</a:t>
            </a:r>
          </a:p>
          <a:p>
            <a:r>
              <a:t>- Node.js 20 for frontend</a:t>
            </a:r>
          </a:p>
          <a:p/>
          <a:p>
            <a:r>
              <a:t>Cloud Resources:</a:t>
            </a:r>
          </a:p>
          <a:p>
            <a:r>
              <a:t>- GitHub Actions for CI/CD</a:t>
            </a:r>
          </a:p>
          <a:p>
            <a:r>
              <a:t>- Vercel for deployment</a:t>
            </a:r>
          </a:p>
          <a:p>
            <a:r>
              <a:t>- AWS S3 for asset storage</a:t>
            </a:r>
          </a:p>
          <a:p/>
          <a:p>
            <a:r>
              <a:t>Compute Hours Used: ~120 hours (within allocated budget)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7966" y="4701617"/>
            <a:ext cx="4386009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200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[Google Collab/ </a:t>
            </a:r>
            <a:r>
              <a:rPr lang="en-IN" sz="1200" b="1" dirty="0" err="1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Kaggle</a:t>
            </a:r>
            <a:r>
              <a:rPr lang="en-IN" sz="1200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 / GPU from College lab with </a:t>
            </a:r>
            <a:r>
              <a:rPr lang="en-IN" sz="1200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compute hours </a:t>
            </a:r>
            <a:r>
              <a:rPr lang="en-IN" sz="1200" b="1" dirty="0" err="1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etc</a:t>
            </a:r>
            <a:r>
              <a:rPr lang="en-IN" sz="1200" b="1" dirty="0" smtClean="0">
                <a:solidFill>
                  <a:srgbClr val="0E4094"/>
                </a:solidFill>
                <a:latin typeface="SamsungOne 600C" panose="020B0706030303020204" pitchFamily="34" charset="0"/>
                <a:ea typeface="SamsungOne 600C" panose="020B0706030303020204" pitchFamily="34" charset="0"/>
              </a:rPr>
              <a:t>]</a:t>
            </a:r>
            <a:endParaRPr lang="en-IN" sz="1200" b="1" dirty="0">
              <a:solidFill>
                <a:srgbClr val="0E4094"/>
              </a:solidFill>
              <a:latin typeface="SamsungOne 600C" panose="020B0706030303020204" pitchFamily="34" charset="0"/>
              <a:ea typeface="SamsungOne 600C" panose="020B0706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7226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68D5616F9BF194488B07F0627BAB481" ma:contentTypeVersion="0" ma:contentTypeDescription="Create a new document." ma:contentTypeScope="" ma:versionID="a03a99aabb1e89e7b494f7f7c7c5383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ff03dde4259c08ff71d8d05c94e2e99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CC52CD1-58C0-485B-9619-B9EBD43EE183}">
  <ds:schemaRefs>
    <ds:schemaRef ds:uri="http://purl.org/dc/elements/1.1/"/>
    <ds:schemaRef ds:uri="http://purl.org/dc/terms/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154A7D69-8D57-4DF2-9544-252FB4EB028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CAA45360-03A4-4567-9FDE-03C8691D85E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4762</TotalTime>
  <Words>180</Words>
  <Application>Microsoft Office PowerPoint</Application>
  <PresentationFormat>Widescreen</PresentationFormat>
  <Paragraphs>41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Calibri</vt:lpstr>
      <vt:lpstr>Calibri Light</vt:lpstr>
      <vt:lpstr>SamsungOne 600C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Saad Hashmi/Tech Mgmt /SRI-Bangalore/Professional/삼성전자</dc:creator>
  <cp:lastModifiedBy>Garima Rani/PRISM /SRI-Bangalore/Associate/Samsung Electronics</cp:lastModifiedBy>
  <cp:revision>56</cp:revision>
  <cp:lastPrinted>2019-06-27T12:08:24Z</cp:lastPrinted>
  <dcterms:created xsi:type="dcterms:W3CDTF">2019-04-12T08:37:01Z</dcterms:created>
  <dcterms:modified xsi:type="dcterms:W3CDTF">2025-02-07T05:33:10Z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  <property fmtid="{D5CDD505-2E9C-101B-9397-08002B2CF9AE}" pid="3" name="ContentTypeId">
    <vt:lpwstr>0x010100168D5616F9BF194488B07F0627BAB481</vt:lpwstr>
  </property>
</Properties>
</file>